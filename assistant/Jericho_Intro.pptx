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 dirty="0">
                <a:solidFill>
                  <a:srgbClr val="202A35"/>
                </a:solidFill>
                <a:latin typeface="Georgia"/>
              </a:rPr>
              <a:t>🕊️  Project Jericho</a:t>
            </a:r>
          </a:p>
          <a:p>
            <a:pPr algn="ctr">
              <a:spcAft>
                <a:spcPts val="1800"/>
              </a:spcAft>
            </a:pPr>
            <a:r>
              <a:rPr sz="2600" b="0" dirty="0">
                <a:solidFill>
                  <a:srgbClr val="2E6FB8"/>
                </a:solidFill>
                <a:latin typeface="Segoe UI"/>
              </a:rPr>
              <a:t>An AI cognitive &amp; sensory companion for seniors</a:t>
            </a:r>
          </a:p>
          <a:p>
            <a:pPr algn="ctr">
              <a:spcAft>
                <a:spcPts val="600"/>
              </a:spcAft>
            </a:pPr>
            <a:r>
              <a:rPr sz="1600" b="0" dirty="0">
                <a:solidFill>
                  <a:srgbClr val="5D6B7A"/>
                </a:solidFill>
                <a:latin typeface="Segoe UI"/>
              </a:rPr>
              <a:t>A</a:t>
            </a:r>
            <a:r>
              <a:rPr lang="en-US" sz="1600" b="0" dirty="0">
                <a:solidFill>
                  <a:srgbClr val="5D6B7A"/>
                </a:solidFill>
                <a:latin typeface="Segoe UI"/>
              </a:rPr>
              <a:t>R Glasses</a:t>
            </a:r>
            <a:r>
              <a:rPr lang="en-US" sz="1600" dirty="0">
                <a:solidFill>
                  <a:srgbClr val="5D6B7A"/>
                </a:solidFill>
                <a:latin typeface="Segoe UI"/>
              </a:rPr>
              <a:t> </a:t>
            </a:r>
            <a:r>
              <a:rPr sz="1600" b="0" dirty="0">
                <a:solidFill>
                  <a:srgbClr val="5D6B7A"/>
                </a:solidFill>
                <a:latin typeface="Segoe UI"/>
              </a:rPr>
              <a:t>become a patient voice assistant that remembers where things are,
guards medicine intake, and reads the small print of the world aloud.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D6B7A"/>
                </a:solidFill>
                <a:latin typeface="Segoe UI"/>
              </a:rPr>
              <a:t>Tencent "Age Well" Hackathon  ·  built on the REMIND re-identification tracker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6FB8"/>
                </a:solidFill>
                <a:latin typeface="Segoe UI"/>
              </a:rPr>
              <a:t>THE PROBLEM</a:t>
            </a:r>
          </a:p>
          <a:p>
            <a:pPr algn="l">
              <a:spcAft>
                <a:spcPts val="600"/>
              </a:spcAft>
            </a:pPr>
            <a:r>
              <a:rPr sz="3400" b="1">
                <a:solidFill>
                  <a:srgbClr val="202A35"/>
                </a:solidFill>
                <a:latin typeface="Georgia"/>
              </a:rPr>
              <a:t>Growing old quietly takes three abilities 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02A35"/>
                </a:solidFill>
                <a:latin typeface="Segoe UI"/>
              </a:rPr>
              <a:t>🔍  Memory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5D6B7A"/>
                </a:solidFill>
                <a:latin typeface="Segoe UI"/>
              </a:rPr>
              <a:t>“Where did I put my keys? My glasses? My wallet?” — misplaced items turn into daily stress and lost independence.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19" y="201168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02A35"/>
                </a:solidFill>
                <a:latin typeface="Segoe UI"/>
              </a:rPr>
              <a:t>💊  Medication safety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5D6B7A"/>
                </a:solidFill>
                <a:latin typeface="Segoe UI"/>
              </a:rPr>
              <a:t>Double-dosing and missed doses are among the most common medication errors at home — labels are confusing and days blur together.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58" y="201168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02A35"/>
                </a:solidFill>
                <a:latin typeface="Segoe UI"/>
              </a:rPr>
              <a:t>👓  Failing senses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5D6B7A"/>
                </a:solidFill>
                <a:latin typeface="Segoe UI"/>
              </a:rPr>
              <a:t>Utility bills, clinic letters, expiry dates — small print becomes unreadable, and asking for help every time is embarrassing.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77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A9761F"/>
                </a:solidFill>
                <a:latin typeface="Segoe UI"/>
              </a:rPr>
              <a:t>Existing aids solve one problem each. Seniors need one companion that is always with them — and speaks their language.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6FB8"/>
                </a:solidFill>
                <a:latin typeface="Segoe UI"/>
              </a:rPr>
              <a:t>THE SOLUTION</a:t>
            </a:r>
          </a:p>
          <a:p>
            <a:pPr algn="l">
              <a:spcAft>
                <a:spcPts val="600"/>
              </a:spcAft>
            </a:pPr>
            <a:r>
              <a:rPr sz="3400" b="1">
                <a:solidFill>
                  <a:srgbClr val="202A35"/>
                </a:solidFill>
                <a:latin typeface="Georgia"/>
              </a:rPr>
              <a:t>One camera app. Five abilities. Zero learning curve.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97280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700" b="1">
                <a:solidFill>
                  <a:srgbClr val="2E6FB8"/>
                </a:solidFill>
                <a:latin typeface="Segoe UI"/>
              </a:rPr>
              <a:t>📸  SNAP   </a:t>
            </a:r>
            <a:r>
              <a:rPr sz="1450">
                <a:solidFill>
                  <a:srgbClr val="202A35"/>
                </a:solidFill>
                <a:latin typeface="Segoe UI"/>
              </a:rPr>
              <a:t>Point at any item — Jericho identifies it and speaks a short, gentle description.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34056"/>
            <a:ext cx="1097280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700" b="1">
                <a:solidFill>
                  <a:srgbClr val="2E6FB8"/>
                </a:solidFill>
                <a:latin typeface="Segoe UI"/>
              </a:rPr>
              <a:t>💬  ASK   </a:t>
            </a:r>
            <a:r>
              <a:rPr sz="1450">
                <a:solidFill>
                  <a:srgbClr val="202A35"/>
                </a:solidFill>
                <a:latin typeface="Segoe UI"/>
              </a:rPr>
              <a:t>Type a question about what the camera sees; answers appear as a large on-screen conversation.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85032"/>
            <a:ext cx="1097280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700" b="1">
                <a:solidFill>
                  <a:srgbClr val="2E6FB8"/>
                </a:solidFill>
                <a:latin typeface="Segoe UI"/>
              </a:rPr>
              <a:t>🎤  HOLD   </a:t>
            </a:r>
            <a:r>
              <a:rPr sz="1450">
                <a:solidFill>
                  <a:srgbClr val="202A35"/>
                </a:solidFill>
                <a:latin typeface="Segoe UI"/>
              </a:rPr>
              <a:t>Hold to talk. Natural back-and-forth voice conversation with memory of the chat.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36008"/>
            <a:ext cx="1097280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700" b="1">
                <a:solidFill>
                  <a:srgbClr val="2E6FB8"/>
                </a:solidFill>
                <a:latin typeface="Segoe UI"/>
              </a:rPr>
              <a:t>👁  WATCH   </a:t>
            </a:r>
            <a:r>
              <a:rPr sz="1450">
                <a:solidFill>
                  <a:srgbClr val="202A35"/>
                </a:solidFill>
                <a:latin typeface="Segoe UI"/>
              </a:rPr>
              <a:t>Live room memory — Jericho watches, remembers every object, and later answers “where is my…?” with a photo.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86984"/>
            <a:ext cx="1097280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700" b="1">
                <a:solidFill>
                  <a:srgbClr val="2E6FB8"/>
                </a:solidFill>
                <a:latin typeface="Segoe UI"/>
              </a:rPr>
              <a:t>📖  READ   </a:t>
            </a:r>
            <a:r>
              <a:rPr sz="1450">
                <a:solidFill>
                  <a:srgbClr val="202A35"/>
                </a:solidFill>
                <a:latin typeface="Segoe UI"/>
              </a:rPr>
              <a:t>Reads letters, bills, and labels aloud — numbers and dates kept exact, plus a one-line summary.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6FB8"/>
                </a:solidFill>
                <a:latin typeface="Segoe UI"/>
              </a:rPr>
              <a:t>LIVE DEMO</a:t>
            </a:r>
          </a:p>
          <a:p>
            <a:pPr algn="l">
              <a:spcAft>
                <a:spcPts val="600"/>
              </a:spcAft>
            </a:pPr>
            <a:r>
              <a:rPr sz="3400" b="1">
                <a:solidFill>
                  <a:srgbClr val="202A35"/>
                </a:solidFill>
                <a:latin typeface="Georgia"/>
              </a:rPr>
              <a:t>“Jericho, where is my teddy bear?”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94560"/>
            <a:ext cx="212140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E6FB8"/>
                </a:solidFill>
                <a:latin typeface="Segoe UI"/>
              </a:rPr>
              <a:t>1. WATCH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D6B7A"/>
                </a:solidFill>
                <a:latin typeface="Segoe UI"/>
              </a:rPr>
              <a:t>Jericho quietly scans the room
every 8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61488" y="2194560"/>
            <a:ext cx="212140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E6FB8"/>
                </a:solidFill>
                <a:latin typeface="Segoe UI"/>
              </a:rPr>
              <a:t>2. TRACK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D6B7A"/>
                </a:solidFill>
                <a:latin typeface="Segoe UI"/>
              </a:rPr>
              <a:t>REMIND gives every object a
persistent identity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0056" y="2194560"/>
            <a:ext cx="212140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E6FB8"/>
                </a:solidFill>
                <a:latin typeface="Segoe UI"/>
              </a:rPr>
              <a:t>3. NAME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D6B7A"/>
                </a:solidFill>
                <a:latin typeface="Segoe UI"/>
              </a:rPr>
              <a:t>GLM vision names the spot:
“on the kitchen counter”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78624" y="2194560"/>
            <a:ext cx="212140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E6FB8"/>
                </a:solidFill>
                <a:latin typeface="Segoe UI"/>
              </a:rPr>
              <a:t>4. ASK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D6B7A"/>
                </a:solidFill>
                <a:latin typeface="Segoe UI"/>
              </a:rPr>
              <a:t>“Where is my teddy bear?”
spoken, hands-free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37192" y="2194560"/>
            <a:ext cx="212140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E6FB8"/>
                </a:solidFill>
                <a:latin typeface="Segoe UI"/>
              </a:rPr>
              <a:t>5. ANSWER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D6B7A"/>
                </a:solidFill>
                <a:latin typeface="Segoe UI"/>
              </a:rPr>
              <a:t>“On the desk, around 10:15 AM”
+ the photo as 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A35"/>
                </a:solidFill>
                <a:latin typeface="Segoe UI"/>
              </a:rPr>
              <a:t>The stage moment: hide the keys under a mug, ask Jericho — it answers with the location, the time, and shows the snapshot.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D6B7A"/>
                </a:solidFill>
                <a:latin typeface="Segoe UI"/>
              </a:rPr>
              <a:t>Already working end-to-end: 30 objects tracked from a 7-second room scan in our tests.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6FB8"/>
                </a:solidFill>
                <a:latin typeface="Segoe UI"/>
              </a:rPr>
              <a:t>MEDICATION GUARDIAN</a:t>
            </a:r>
          </a:p>
          <a:p>
            <a:pPr algn="l">
              <a:spcAft>
                <a:spcPts val="600"/>
              </a:spcAft>
            </a:pPr>
            <a:r>
              <a:rPr sz="3400" b="1">
                <a:solidFill>
                  <a:srgbClr val="202A35"/>
                </a:solidFill>
                <a:latin typeface="Georgia"/>
              </a:rPr>
              <a:t>The feature that can prevent real harm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539496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202A35"/>
                </a:solidFill>
                <a:latin typeface="Segoe UI"/>
              </a:rPr>
              <a:t>How it works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D6B7A"/>
                </a:solidFill>
                <a:latin typeface="Segoe UI"/>
              </a:rPr>
              <a:t>•  Snap any medicine — Jericho reads the label and explains it in plain words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D6B7A"/>
                </a:solidFill>
                <a:latin typeface="Segoe UI"/>
              </a:rPr>
              <a:t>•  Every scan is logged with the time, automatically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D6B7A"/>
                </a:solidFill>
                <a:latin typeface="Segoe UI"/>
              </a:rPr>
              <a:t>•  Scan the same medicine again the same day → a warning comes FIRST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D6B7A"/>
                </a:solidFill>
                <a:latin typeface="Segoe UI"/>
              </a:rPr>
              <a:t>•  Ask anytime: “what have I taken today?”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920240"/>
            <a:ext cx="5212080" cy="3840480"/>
          </a:xfrm>
          <a:prstGeom prst="roundRect">
            <a:avLst>
              <a:gd name="adj" fmla="val 6000"/>
            </a:avLst>
          </a:prstGeom>
          <a:solidFill>
            <a:srgbClr val="E3EDF8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E6FB8"/>
                </a:solidFill>
                <a:latin typeface="Segoe UI"/>
              </a:rPr>
              <a:t>🔊  Jericho says: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02A35"/>
                </a:solidFill>
                <a:latin typeface="Georgia"/>
              </a:rPr>
              <a:t>“Careful — you already scanned Panadol today at 8:00 AM. If you already took it, please do not take it again.”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D6B7A"/>
                </a:solidFill>
                <a:latin typeface="Segoe UI"/>
              </a:rPr>
              <a:t>Safety rails: identifies from packaging text only · refuses to guess loose pills · never gives personal dosing advice · always defers to a pharmacist or doctor.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6FB8"/>
                </a:solidFill>
                <a:latin typeface="Segoe UI"/>
              </a:rPr>
              <a:t>UNDER THE HOOD</a:t>
            </a:r>
          </a:p>
          <a:p>
            <a:pPr algn="l">
              <a:spcAft>
                <a:spcPts val="600"/>
              </a:spcAft>
            </a:pPr>
            <a:r>
              <a:rPr sz="3400" b="1">
                <a:solidFill>
                  <a:srgbClr val="202A35"/>
                </a:solidFill>
                <a:latin typeface="Georgia"/>
              </a:rPr>
              <a:t>Four AI systems, one conversation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728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700" b="1">
                <a:solidFill>
                  <a:srgbClr val="202A35"/>
                </a:solidFill>
                <a:latin typeface="Segoe UI"/>
              </a:rPr>
              <a:t>Whisper STT   </a:t>
            </a:r>
            <a:r>
              <a:rPr sz="1200" b="1">
                <a:solidFill>
                  <a:srgbClr val="2F7D57"/>
                </a:solidFill>
                <a:latin typeface="Consolas"/>
              </a:rPr>
              <a:t>[LOCAL]   </a:t>
            </a:r>
            <a:r>
              <a:rPr sz="1350">
                <a:solidFill>
                  <a:srgbClr val="5D6B7A"/>
                </a:solidFill>
                <a:latin typeface="Segoe UI"/>
              </a:rPr>
              <a:t>speech → text on the home PC — voice never leaves the house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07208"/>
            <a:ext cx="109728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700" b="1">
                <a:solidFill>
                  <a:srgbClr val="202A35"/>
                </a:solidFill>
                <a:latin typeface="Segoe UI"/>
              </a:rPr>
              <a:t>REMIND re-ID tracker   </a:t>
            </a:r>
            <a:r>
              <a:rPr sz="1200" b="1">
                <a:solidFill>
                  <a:srgbClr val="2F7D57"/>
                </a:solidFill>
                <a:latin typeface="Consolas"/>
              </a:rPr>
              <a:t>[LOCAL]   </a:t>
            </a:r>
            <a:r>
              <a:rPr sz="1350">
                <a:solidFill>
                  <a:srgbClr val="5D6B7A"/>
                </a:solidFill>
                <a:latin typeface="Segoe UI"/>
              </a:rPr>
              <a:t>YOLO + DINOv3: persistent object identities, ~0.4 s per frame on CPU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85616"/>
            <a:ext cx="109728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700" b="1">
                <a:solidFill>
                  <a:srgbClr val="202A35"/>
                </a:solidFill>
                <a:latin typeface="Segoe UI"/>
              </a:rPr>
              <a:t>GLM-4.6V (z.ai)   </a:t>
            </a:r>
            <a:r>
              <a:rPr sz="1200" b="1">
                <a:solidFill>
                  <a:srgbClr val="2E6FB8"/>
                </a:solidFill>
                <a:latin typeface="Consolas"/>
              </a:rPr>
              <a:t>[CLOUD]   </a:t>
            </a:r>
            <a:r>
              <a:rPr sz="1350">
                <a:solidFill>
                  <a:srgbClr val="5D6B7A"/>
                </a:solidFill>
                <a:latin typeface="Segoe UI"/>
              </a:rPr>
              <a:t>vision, reasoning, and autonomous tool-calling (find_object, med_history)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64024"/>
            <a:ext cx="109728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700" b="1">
                <a:solidFill>
                  <a:srgbClr val="202A35"/>
                </a:solidFill>
                <a:latin typeface="Segoe UI"/>
              </a:rPr>
              <a:t>Fish Audio TTS   </a:t>
            </a:r>
            <a:r>
              <a:rPr sz="1200" b="1">
                <a:solidFill>
                  <a:srgbClr val="2E6FB8"/>
                </a:solidFill>
                <a:latin typeface="Consolas"/>
              </a:rPr>
              <a:t>[CLOUD]   </a:t>
            </a:r>
            <a:r>
              <a:rPr sz="1350">
                <a:solidFill>
                  <a:srgbClr val="5D6B7A"/>
                </a:solidFill>
                <a:latin typeface="Segoe UI"/>
              </a:rPr>
              <a:t>the warm “Sarah” voice for every reply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F7D57"/>
                </a:solidFill>
                <a:latin typeface="Segoe UI"/>
              </a:rPr>
              <a:t>Privacy by architecture: the phone is only a camera, mic, and speaker — tracking and memory stay on the home PC.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6FB8"/>
                </a:solidFill>
                <a:latin typeface="Segoe UI"/>
              </a:rPr>
              <a:t>THE DIFFERENTIATOR</a:t>
            </a:r>
          </a:p>
          <a:p>
            <a:pPr algn="l">
              <a:spcAft>
                <a:spcPts val="600"/>
              </a:spcAft>
            </a:pPr>
            <a:r>
              <a:rPr sz="3400" b="1">
                <a:solidFill>
                  <a:srgbClr val="202A35"/>
                </a:solidFill>
                <a:latin typeface="Georgia"/>
              </a:rPr>
              <a:t>Why a research tracker beats captions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A9761F"/>
                </a:solidFill>
                <a:latin typeface="Segoe UI"/>
              </a:rPr>
              <a:t>Caption-only ✘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D6B7A"/>
                </a:solidFill>
                <a:latin typeface="Segoe UI"/>
              </a:rPr>
              <a:t>“I see a bottle.” — every time, a brand-new bottle.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5D6B7A"/>
                </a:solidFill>
                <a:latin typeface="Segoe UI"/>
              </a:rPr>
              <a:t>Six bottles collapse into one blurry “bottle”. No history, no identity, no “your bottle moved”.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920240"/>
            <a:ext cx="521208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2F7D57"/>
                </a:solidFill>
                <a:latin typeface="Segoe UI"/>
              </a:rPr>
              <a:t>REMIND + GLM ✔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D6B7A"/>
                </a:solidFill>
                <a:latin typeface="Segoe UI"/>
              </a:rPr>
              <a:t>REMIND keeps six bottles as six distinct identities — through occlusions, disappearances, and look-alikes (DINOv3 appearance memory + Hungarian matching).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5D6B7A"/>
                </a:solidFill>
                <a:latin typeface="Segoe UI"/>
              </a:rPr>
              <a:t>GLM adds the human phrase a tracker can’t say: “on the kitchen counter”. Each covers the other’s blind spot.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15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E6FB8"/>
                </a:solidFill>
                <a:latin typeface="Segoe UI"/>
              </a:rPr>
              <a:t>Published research (arXiv 2607.09267) repurposed into elderly care — deep use of AI tools, not just API calls.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6FB8"/>
                </a:solidFill>
                <a:latin typeface="Segoe UI"/>
              </a:rPr>
              <a:t>WHERE WE ARE</a:t>
            </a:r>
          </a:p>
          <a:p>
            <a:pPr algn="l">
              <a:spcAft>
                <a:spcPts val="600"/>
              </a:spcAft>
            </a:pPr>
            <a:r>
              <a:rPr sz="3400" b="1">
                <a:solidFill>
                  <a:srgbClr val="202A35"/>
                </a:solidFill>
                <a:latin typeface="Georgia"/>
              </a:rPr>
              <a:t>Working today, growing tomorrow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5394960" cy="3931920"/>
          </a:xfrm>
          <a:prstGeom prst="roundRect">
            <a:avLst>
              <a:gd name="adj" fmla="val 6000"/>
            </a:avLst>
          </a:prstGeom>
          <a:solidFill>
            <a:srgbClr val="E1F0E8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l">
              <a:spcAft>
                <a:spcPts val="1000"/>
              </a:spcAft>
            </a:pPr>
            <a:r>
              <a:rPr sz="1800" b="1" dirty="0">
                <a:solidFill>
                  <a:srgbClr val="2F7D57"/>
                </a:solidFill>
                <a:latin typeface="Segoe UI"/>
              </a:rPr>
              <a:t>✔ Built &amp; verified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202A35"/>
                </a:solidFill>
                <a:latin typeface="Segoe UI"/>
              </a:rPr>
              <a:t>•  All five features working end-to-end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202A35"/>
                </a:solidFill>
                <a:latin typeface="Segoe UI"/>
              </a:rPr>
              <a:t>•  </a:t>
            </a:r>
            <a:r>
              <a:rPr lang="en-US" sz="1400" b="0" dirty="0">
                <a:solidFill>
                  <a:srgbClr val="202A35"/>
                </a:solidFill>
                <a:latin typeface="Segoe UI"/>
              </a:rPr>
              <a:t>AR Glasses</a:t>
            </a:r>
            <a:r>
              <a:rPr sz="1400" b="0" dirty="0">
                <a:solidFill>
                  <a:srgbClr val="202A35"/>
                </a:solidFill>
                <a:latin typeface="Segoe UI"/>
              </a:rPr>
              <a:t> access over home Wi-Fi (HTTPS)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202A35"/>
                </a:solidFill>
                <a:latin typeface="Segoe UI"/>
              </a:rPr>
              <a:t>•  Voice round-trip: ask → spoken answer + photo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202A35"/>
                </a:solidFill>
                <a:latin typeface="Segoe UI"/>
              </a:rPr>
              <a:t>•  Medication repeat-warning firing correctly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202A35"/>
                </a:solidFill>
                <a:latin typeface="Segoe UI"/>
              </a:rPr>
              <a:t>•  Live tracking at ~0.4 s per frame on a laptop CPU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74519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2E6FB8"/>
                </a:solidFill>
                <a:latin typeface="Segoe UI"/>
              </a:rPr>
              <a:t>→ Next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D6B7A"/>
                </a:solidFill>
                <a:latin typeface="Segoe UI"/>
              </a:rPr>
              <a:t>•  Mandarin / Malay voice for local seniors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D6B7A"/>
                </a:solidFill>
                <a:latin typeface="Segoe UI"/>
              </a:rPr>
              <a:t>•  Scheduled medicine reminders, not just warnings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D6B7A"/>
                </a:solidFill>
                <a:latin typeface="Segoe UI"/>
              </a:rPr>
              <a:t>•  Multi-room zones and long-term memory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D6B7A"/>
                </a:solidFill>
                <a:latin typeface="Segoe UI"/>
              </a:rPr>
              <a:t>•  Caregiver summary: daily activity &amp; meds digest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D6B7A"/>
                </a:solidFill>
                <a:latin typeface="Segoe UI"/>
              </a:rPr>
              <a:t>•  Wearable / smart-glasses form factor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</a:pPr>
            <a:r>
              <a:rPr sz="4400" b="1">
                <a:solidFill>
                  <a:srgbClr val="202A35"/>
                </a:solidFill>
                <a:latin typeface="Georgia"/>
              </a:rPr>
              <a:t>Jericho remembers,
so they don’t have to.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E6FB8"/>
                </a:solidFill>
                <a:latin typeface="Segoe UI"/>
              </a:rPr>
              <a:t>github.com/syedazhar3401/ProjectJericho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D6B7A"/>
                </a:solidFill>
                <a:latin typeface="Segoe UI"/>
              </a:rPr>
              <a:t>Live demo available — bring us your keys and we’ll hide them.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877</Words>
  <Application>Microsoft Office PowerPoint</Application>
  <PresentationFormat>Widescreen</PresentationFormat>
  <Paragraphs>77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SYED AZHAR BIN SYED JAKIRUL ALAM</cp:lastModifiedBy>
  <cp:revision>3</cp:revision>
  <dcterms:created xsi:type="dcterms:W3CDTF">2013-01-27T09:14:16Z</dcterms:created>
  <dcterms:modified xsi:type="dcterms:W3CDTF">2026-08-09T14:07:47Z</dcterms:modified>
  <cp:category/>
</cp:coreProperties>
</file>